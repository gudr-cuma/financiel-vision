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99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164592" cy="492404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1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36576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Fonctionnelle  ·  v1.0  · 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FEC · Analyseur · Dashboard · Trésorerie · Charges · Bilan · Comparaison · Export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869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générale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1567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100% locales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— import FEC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6962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de session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Analyseur FEC —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357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Analyseur FEC — Anomalies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— Lecture du tableau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752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— Drill-down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mensuelles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3147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décalés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8541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charges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123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simplifié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3936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N/N-1/N-2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822960"/>
            <a:ext cx="402336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8869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— Tableaux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11567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gestion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1426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CR Divalto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16962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 comptables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— Sélection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22357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— Options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IA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27752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Diaporama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30449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 CUMA (1)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33147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 CUMA (2)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348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38541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générale — Qu'est-ce que Clario Vision 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3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212080" cy="3977640"/>
          </a:xfrm>
          <a:prstGeom prst="rect">
            <a:avLst/>
          </a:prstGeom>
          <a:solidFill>
            <a:srgbClr val="E8F5E0"/>
          </a:solidFill>
          <a:ln w="12700">
            <a:solidFill>
              <a:srgbClr val="E8F5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953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financière à partir de fichiers FEC, directement dans le navigateur — sans installation, sans compte, sans serveur.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04825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Source : Fichier FEC exporté depuis votre logiciel comptable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9 modules d'analyse (SIG, Tréso, Charges, Bilan, Comparaison...)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Export PDF professionnel (13 types de documents)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Export PowerPoint intégré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673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Rapport IA (analyse automatique du FEC)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804672"/>
            <a:ext cx="3063240" cy="397764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8595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32588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53328" y="136245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Cabinets comptables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53328" y="16550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spécialisés CUMA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1031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53328" y="213969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CUMA &amp; coopératives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53328" y="243230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agricoles (PCG CUMA)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88036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53328" y="291693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Experts-comptables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53328" y="320954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client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365760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53328" y="3694176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Trésoriers CUMA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53328" y="39867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gestion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100% locales — Confidentialité absolue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4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00584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046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Vos données FEC ne quittent jamais votre navigateur.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16052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66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Aucun compte requis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création de compte, pas d'identifiant, pas de mot de passe.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93392"/>
            <a:ext cx="416052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066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Aucune transmission réseau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4505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FEC est parsé et analysé 100% dans votre navigateur (Web Worker).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46704"/>
            <a:ext cx="416052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4198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 de stockage persistant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039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écrit sur votre disque ni dans le localStorage du navigateur.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346704"/>
            <a:ext cx="4160520" cy="117043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4198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Conforme RGPD par conception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8039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personnelle ni comptable ne transite par un serveur.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— Import du fichier FEC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5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011680" cy="2331720"/>
          </a:xfrm>
          <a:prstGeom prst="rect">
            <a:avLst/>
          </a:prstGeom>
          <a:solidFill>
            <a:srgbClr val="F8FAFB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011680" cy="420624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046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Glisser-déposer le FEC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Déposez votre fichier .csv sur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zone de drop, ou cliquez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parcourir.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67712" y="16276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2011680" cy="2331720"/>
          </a:xfrm>
          <a:prstGeom prst="rect">
            <a:avLst/>
          </a:prstGeom>
          <a:solidFill>
            <a:srgbClr val="F8FAFB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804672"/>
            <a:ext cx="2011680" cy="420624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8046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Validation automatique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298448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FEC vérifié : 18 colonnes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réglementaires · Encodage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 automatiquement.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62272" y="16276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45152" y="804672"/>
            <a:ext cx="2011680" cy="2331720"/>
          </a:xfrm>
          <a:prstGeom prst="rect">
            <a:avLst/>
          </a:prstGeom>
          <a:solidFill>
            <a:srgbClr val="F8FAFB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804672"/>
            <a:ext cx="2011680" cy="42062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8046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Barre de progression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1298448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via Web Worker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blocage du navigateur.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affichée en %.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56832" y="1627632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39712" y="804672"/>
            <a:ext cx="2011680" cy="2331720"/>
          </a:xfrm>
          <a:prstGeom prst="rect">
            <a:avLst/>
          </a:prstGeom>
          <a:solidFill>
            <a:srgbClr val="F8FAFB"/>
          </a:solidFill>
          <a:ln w="12700">
            <a:solidFill>
              <a:srgbClr val="268E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9712" y="804672"/>
            <a:ext cx="2011680" cy="420624"/>
          </a:xfrm>
          <a:prstGeom prst="rect">
            <a:avLst/>
          </a:prstGeom>
          <a:solidFill>
            <a:srgbClr val="268E00"/>
          </a:solidFill>
          <a:ln w="12700">
            <a:solidFill>
              <a:srgbClr val="268E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8046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Dashboard disponible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1298448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analyses sont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instantanément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parsing.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310128"/>
            <a:ext cx="8503920" cy="10972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Mode démo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703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n'avez pas de fichier FEC sous la main, cliquez sur « Charger les données de démonstration » pour explorer toutes les fonctionnalités avec un jeu de données réaliste d'une CUMA.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de session — Fichier .clario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6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.clario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.clario contient l'instantané complet de votre session de travail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Les données FEC parsées (N, N-1, N-2)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Tous les résultats calculés (SIG, tréso, bilan...)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Les paramètres de l'exercice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 texte du rapport IA (si généré)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 configuration du diaporama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8770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Les données Dossier et Bilan CR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E8F5E0"/>
          </a:solidFill>
          <a:ln w="12700">
            <a:solidFill>
              <a:srgbClr val="E8F5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850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Sauvegarder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menu principal → « Sauvegarder la session 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.clario est téléchargé automatiquement.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n'est envoyée sur un serveur.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852928"/>
            <a:ext cx="4114800" cy="192024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898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Restaurer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46704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Déposez un fichier .clario sur la page d'accueil,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depuis « Restaurer une session ».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analyses reprennent là où vous les aviez laissées.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Analyseur FEC — Score qualité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7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20040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32004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0467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 (0 – 100)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0786" y="2843784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0786" y="2843784"/>
            <a:ext cx="1303020" cy="18288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8106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0786" y="3282696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0786" y="3282696"/>
            <a:ext cx="1234440" cy="18288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28106" y="3200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6393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10786" y="3721608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0786" y="3721608"/>
            <a:ext cx="1124712" cy="18288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8106" y="36393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0782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0786" y="4160520"/>
            <a:ext cx="13716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0786" y="4160520"/>
            <a:ext cx="1097280" cy="18288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28106" y="40782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94760" y="804672"/>
            <a:ext cx="5029200" cy="86868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8503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118872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des 18 colonnes · Header exact · Pas de lignes vides · Cohérence des dates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94760" y="1810512"/>
            <a:ext cx="5029200" cy="86868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185623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219456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débit = crédit par journal · Équilibre global · Cohérence des à-nouveaux (ANC)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94760" y="2816352"/>
            <a:ext cx="502920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286207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320040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d'écritures non vides · Pas de doublons suspects · Longueur minimale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94760" y="3822192"/>
            <a:ext cx="5029200" cy="868680"/>
          </a:xfrm>
          <a:prstGeom prst="rect">
            <a:avLst/>
          </a:prstGeom>
          <a:solidFill>
            <a:srgbClr val="F0F7D4"/>
          </a:solidFill>
          <a:ln w="12700">
            <a:solidFill>
              <a:srgbClr val="93C9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38679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31920" y="4206240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de pièce présents · Dates de validation renseignées · Cohérence lettrage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94760" y="4718304"/>
            <a:ext cx="5029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Analyseur FEC — Anomalies &amp; Balance journal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8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743200" cy="1143000"/>
          </a:xfrm>
          <a:prstGeom prst="rect">
            <a:avLst/>
          </a:prstGeom>
          <a:solidFill>
            <a:srgbClr val="F8FAFB"/>
          </a:solidFill>
          <a:ln w="1270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8046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bilan, colonnes manquantes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804672"/>
            <a:ext cx="2743200" cy="1143000"/>
          </a:xfrm>
          <a:prstGeom prst="rect">
            <a:avLst/>
          </a:prstGeom>
          <a:solidFill>
            <a:srgbClr val="F8FAFB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04672"/>
            <a:ext cx="2743200" cy="384048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804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18888" y="8046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55848" y="12618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Libellés vides, numéros manquants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804672"/>
            <a:ext cx="2743200" cy="1143000"/>
          </a:xfrm>
          <a:prstGeom prst="rect">
            <a:avLst/>
          </a:prstGeom>
          <a:solidFill>
            <a:srgbClr val="F8FAFB"/>
          </a:solidFill>
          <a:ln w="12700">
            <a:solidFill>
              <a:srgbClr val="93C90E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804672"/>
            <a:ext cx="2743200" cy="384048"/>
          </a:xfrm>
          <a:prstGeom prst="rect">
            <a:avLst/>
          </a:prstGeom>
          <a:solidFill>
            <a:srgbClr val="93C90E"/>
          </a:solidFill>
          <a:ln w="12700">
            <a:solidFill>
              <a:srgbClr val="93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804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63256" y="8046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12618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de validation incomplètes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103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anomalies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05456"/>
          <a:ext cx="8503920" cy="13533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Sévérité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Déséquilibre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Débit ≠ Crédit sur le journal VT (écart : 150,00 €)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Majeure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Libellé vide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écritures sans libellé sur journal 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ℹ️ Mineure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valid.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écritures sans date de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20040" y="3977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par journal — équilibre débit/crédit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journal (AC, VT, BQ, OD, AN...) : débit total · crédit total · écart · statut ✅ ou ⛔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— Lecture du tableau (Soldes Intermédiaires de Gestion)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9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1144305"/>
            <a:ext cx="685800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4305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1144305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482 350 €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0" y="1144305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100,0 %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1144305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528353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28353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Subventions d'exploitation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528353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12 450 €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1528353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2,6 %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1528353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1912401"/>
            <a:ext cx="685800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912401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consommés nets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1912401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(124 800 €)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912401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25,9 %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912401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2296449"/>
            <a:ext cx="6858000" cy="384048"/>
          </a:xfrm>
          <a:prstGeom prst="rect">
            <a:avLst/>
          </a:prstGeom>
          <a:solidFill>
            <a:srgbClr val="E8F5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96449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Marge brute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2296449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370 000 €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2296449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76,7 %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2296449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2680497"/>
            <a:ext cx="685800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80497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extérieurs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2680497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(186 500 €)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2680497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38,7 %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2680497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3064545"/>
            <a:ext cx="6858000" cy="384048"/>
          </a:xfrm>
          <a:prstGeom prst="rect">
            <a:avLst/>
          </a:prstGeom>
          <a:solidFill>
            <a:srgbClr val="E8F5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64545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Valeur Ajoutée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3064545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183 500 €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064545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38,0 %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3064545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" y="3448593"/>
            <a:ext cx="6858000" cy="38404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48593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personnel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3448593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(132 000 €)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3448593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27,4 %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3448593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20040" y="3832641"/>
            <a:ext cx="6858000" cy="384048"/>
          </a:xfrm>
          <a:prstGeom prst="rect">
            <a:avLst/>
          </a:prstGeom>
          <a:solidFill>
            <a:srgbClr val="E8F5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32641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EBE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0" y="3832641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51 500 €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17920" y="3832641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10,7 %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3832641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0040" y="4216689"/>
            <a:ext cx="6858000" cy="384048"/>
          </a:xfrm>
          <a:prstGeom prst="rect">
            <a:avLst/>
          </a:prstGeom>
          <a:solidFill>
            <a:srgbClr val="E3F2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216689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RÉSULTAT NET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0" y="4216689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28 200 €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4216689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5,8 %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9400" y="4216689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029200" y="869991"/>
            <a:ext cx="1143000" cy="25603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869985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17920" y="869985"/>
            <a:ext cx="822960" cy="25603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869985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15200" y="804672"/>
            <a:ext cx="150876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06640" y="85039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06640" y="1261872"/>
            <a:ext cx="292608" cy="292608"/>
          </a:xfrm>
          <a:prstGeom prst="rect">
            <a:avLst/>
          </a:prstGeom>
          <a:solidFill>
            <a:srgbClr val="E8F5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0" y="12344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06640" y="2066544"/>
            <a:ext cx="292608" cy="292608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0" y="203911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06640" y="2871216"/>
            <a:ext cx="292608" cy="292608"/>
          </a:xfrm>
          <a:prstGeom prst="rect">
            <a:avLst/>
          </a:prstGeom>
          <a:solidFill>
            <a:srgbClr val="E3F2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72400" y="284378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06640" y="365760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Cliquer pour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drill-down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— Drill-down : de la ligne au justificatif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10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78892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788920" cy="420624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04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Clic sur une ligne SIG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« Services extérieurs 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186 500 €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4952" y="208483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27832" y="804672"/>
            <a:ext cx="278892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804672"/>
            <a:ext cx="2788920" cy="420624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804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Panel latéral : comptes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298448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 Sous-traitance → 42 350 €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Location mat. → 38 000 €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 Carburant → 28 200 €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16752" y="2084832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99632" y="804672"/>
            <a:ext cx="2788920" cy="3246120"/>
          </a:xfrm>
          <a:prstGeom prst="rect">
            <a:avLst/>
          </a:prstGeom>
          <a:solidFill>
            <a:srgbClr val="F8FAFB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804672"/>
            <a:ext cx="2788920" cy="42062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804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Clic sur un compte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298448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écritures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journal · libellé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· solde cumulé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24528"/>
            <a:ext cx="8503920" cy="54864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 drill-down est disponible sur tous les postes SIG, le Bilan simplifié et la Balance comptable. Pour fermer le panel : clic en dehors ou touche Échap.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mensuelles — 3 sous-onglets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11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788920" cy="3931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788920" cy="420624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04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graphiques en grille 2×3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(barres)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 mensuelle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 mensuel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personnel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mensuel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Ajoutée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88920" cy="3931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804672"/>
            <a:ext cx="2788920" cy="420624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804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298448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courbes cumulées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 cumulé (vert)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EBE cumulé (bleu)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sur l'exercice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804672"/>
            <a:ext cx="2788920" cy="393192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804672"/>
            <a:ext cx="2788920" cy="42062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804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298448"/>
            <a:ext cx="2560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complet avec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colonnes : CA · Marge · %Marge · EBE · %EBE/CA · REX · %REX/CA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dans le PDF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décalés — Prise en charge automatique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12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détecte automatiquement si votre exercice est décalé (ex : 1er avril → 31 mars) et respecte l'ordre chronologique dans tous les graphiques.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4160520" cy="2651760"/>
          </a:xfrm>
          <a:prstGeom prst="rect">
            <a:avLst/>
          </a:prstGeom>
          <a:solidFill>
            <a:srgbClr val="F8FAFB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29968"/>
            <a:ext cx="4160520" cy="402336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299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standard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janvier → 31 décembre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444752" y="290779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32304" y="290779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19856" y="290779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44752" y="341071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32304" y="341071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9856" y="341071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444752" y="391363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4752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32304" y="391363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19856" y="3913632"/>
            <a:ext cx="914400" cy="36576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2029968"/>
            <a:ext cx="4160520" cy="2651760"/>
          </a:xfrm>
          <a:prstGeom prst="rect">
            <a:avLst/>
          </a:prstGeom>
          <a:solidFill>
            <a:srgbClr val="F8FAFB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029968"/>
            <a:ext cx="4160520" cy="402336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0299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décalé (CUMA typique)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25054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avril → 31 mars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90779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33872" y="290779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21424" y="290779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08976" y="290779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08976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341071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833872" y="341071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33872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21424" y="341071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21424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808976" y="341071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08976" y="34107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46320" y="391363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33872" y="391363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33872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21424" y="391363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21424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808976" y="3913632"/>
            <a:ext cx="914400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08976" y="3913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— Suivi journalier du solde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13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1371600" cy="868680"/>
          </a:xfrm>
          <a:prstGeom prst="rect">
            <a:avLst/>
          </a:prstGeom>
          <a:solidFill>
            <a:srgbClr val="F8FAFB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04672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actuel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48 350 €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804672"/>
            <a:ext cx="1371600" cy="868680"/>
          </a:xfrm>
          <a:prstGeom prst="rect">
            <a:avLst/>
          </a:prstGeom>
          <a:solidFill>
            <a:srgbClr val="F8FAFB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01368" y="804672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min.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01368" y="1115568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12 100 €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804672"/>
            <a:ext cx="1371600" cy="868680"/>
          </a:xfrm>
          <a:prstGeom prst="rect">
            <a:avLst/>
          </a:prstGeom>
          <a:solidFill>
            <a:srgbClr val="F8FAFB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804672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max.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82696" y="1115568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96 800 €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0016" y="804672"/>
            <a:ext cx="1371600" cy="868680"/>
          </a:xfrm>
          <a:prstGeom prst="rect">
            <a:avLst/>
          </a:prstGeom>
          <a:solidFill>
            <a:srgbClr val="F8FAFB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804672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moyen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64024" y="1115568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1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52 400 €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804672"/>
            <a:ext cx="1371600" cy="868680"/>
          </a:xfrm>
          <a:prstGeom prst="rect">
            <a:avLst/>
          </a:prstGeom>
          <a:solidFill>
            <a:srgbClr val="F8FAFB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45352" y="804672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encaissements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45352" y="1115568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521 000 €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62672" y="804672"/>
            <a:ext cx="1371600" cy="868680"/>
          </a:xfrm>
          <a:prstGeom prst="rect">
            <a:avLst/>
          </a:prstGeom>
          <a:solidFill>
            <a:srgbClr val="F8FAFB"/>
          </a:solidFill>
          <a:ln w="12700">
            <a:solidFill>
              <a:srgbClr val="E5393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26680" y="804672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décaissements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26680" y="1115568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486 200 €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1783080"/>
            <a:ext cx="8503920" cy="214884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783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du solde journalier (AreaChart)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148840"/>
            <a:ext cx="8229600" cy="164592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212848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fin de journée — axe des ordonnées en € — axe des abscisses par mois de l'exercice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période : Année complète / T1 / T2 / T3 / T4 / S1 / S2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0050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encaissements &amp; Top 10 décaissements : tableau des plus gros flux individuels avec date, libellé, montant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charges — 6 catégories CUMA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14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384048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interactif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256032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2984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298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38,2 %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256032" cy="256032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8013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8013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25,1 %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359152"/>
            <a:ext cx="256032" cy="256032"/>
          </a:xfrm>
          <a:prstGeom prst="rect">
            <a:avLst/>
          </a:prstGeom>
          <a:solidFill>
            <a:srgbClr val="00965E"/>
          </a:solidFill>
          <a:ln w="12700">
            <a:solidFill>
              <a:srgbClr val="0096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3042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amort.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304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14,8 %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862072"/>
            <a:ext cx="256032" cy="256032"/>
          </a:xfrm>
          <a:prstGeom prst="rect">
            <a:avLst/>
          </a:prstGeom>
          <a:solidFill>
            <a:srgbClr val="93C90E"/>
          </a:solidFill>
          <a:ln w="12700">
            <a:solidFill>
              <a:srgbClr val="93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807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28072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364992"/>
            <a:ext cx="256032" cy="25603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3101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&amp; taxes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310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6,2 %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67912"/>
            <a:ext cx="256032" cy="256032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813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Financières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813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3,3 %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une catégorie pour afficher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détail des comptes et le graphique mensuel.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804672"/>
            <a:ext cx="4480560" cy="397764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26280" y="850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mensuel par catégorie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clic sur une catégorie du donut 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1664208"/>
            <a:ext cx="411480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Graphique en barres des montants mensuels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pour la catégorie sélectionnée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Liste des comptes contribuant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(numéro · libellé · montant annuel)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Pourcentage du total des charges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pour chaque mois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Cumul annuel de la catégorie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simplifié — Actif, Passif &amp; Ratios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15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233172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1148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046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Actif immobilisé     235 600 €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Actif circulant       78 400 €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Trésorerie             48 350 €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3840480" cy="1828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362 350 €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804672"/>
            <a:ext cx="4114800" cy="233172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04672"/>
            <a:ext cx="41148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8046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Capitaux propres   198 200 €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7190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Dettes MLT             82 500 €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57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Dettes CT               81 650 €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505456"/>
            <a:ext cx="3840480" cy="18288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42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362 350 €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2011680" cy="1417320"/>
          </a:xfrm>
          <a:prstGeom prst="rect">
            <a:avLst/>
          </a:prstGeom>
          <a:solidFill>
            <a:srgbClr val="E8F5E0"/>
          </a:solidFill>
          <a:ln w="12700">
            <a:solidFill>
              <a:srgbClr val="268E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236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de Roulement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6393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45 100 €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1480" y="40599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(Cap. propres + MLT) − Actif immo.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96312" y="3200400"/>
            <a:ext cx="2011680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87752" y="3236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87752" y="36393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(3 250 €)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87752" y="40599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+ Créances − Dettes CT (hors tréso)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72584" y="3200400"/>
            <a:ext cx="2011680" cy="1417320"/>
          </a:xfrm>
          <a:prstGeom prst="rect">
            <a:avLst/>
          </a:prstGeom>
          <a:solidFill>
            <a:srgbClr val="E8F5E0"/>
          </a:solidFill>
          <a:ln w="12700">
            <a:solidFill>
              <a:srgbClr val="268E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64024" y="3236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financière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64024" y="36393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54,7 %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64024" y="40599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propres / Total passif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48856" y="3200400"/>
            <a:ext cx="2011680" cy="1417320"/>
          </a:xfrm>
          <a:prstGeom prst="rect">
            <a:avLst/>
          </a:prstGeom>
          <a:solidFill>
            <a:srgbClr val="E8F5E0"/>
          </a:solidFill>
          <a:ln w="12700">
            <a:solidFill>
              <a:srgbClr val="268E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0296" y="32369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Liquidité générale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40296" y="36393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40296" y="405993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circulant / Dettes CT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N / N-1 / N-2 — Analyse multi-exercices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16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804672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Chargez 1 à 3 fichiers FEC (exercice N, N-1, N-2) depuis l'onglet Comparaison pour activer les analyses pluriannuelles.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2743200" cy="420624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37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N-2  (exercice -2)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737360"/>
            <a:ext cx="2743200" cy="42062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737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  (exercice -1)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737360"/>
            <a:ext cx="2743200" cy="420624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173736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  (exercice courant)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2860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analyses annuelles disponibles 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268833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 &amp; Marge brute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02666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Valeur Ajoutée &amp; EBE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36499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Résultats (courant, exceptionnel, net)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370332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Charges de personnel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40416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Services extérieurs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437997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Achats &amp; Dotations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268833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Bilan Actif / Passif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302666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Trésorerie (solde fin de mois)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336499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 mensuel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17720" y="370332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Comparaison charges (donut)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40416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Autonomie financière &amp; Liquidité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57200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analyses mensuelles : Tréso · CA · Charges par catégorie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— Format des tableaux annuels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17 / 28</a:t>
            </a:r>
            <a:endParaRPr lang="en-US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458200" cy="33832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C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B7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N-1→N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Évol.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441 200 €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462 800 €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482 350 €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+19 550 €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brute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338 900 €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357 400 €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370 000 €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+12 600 €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Ajoutée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172 100 €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178 600 €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183 500 €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+4 900 €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46 800 €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49 300 €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51 500 €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+2 200 €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21 400 €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25 100 €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28 200 €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+3 100 €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68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+12,4 %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Chaque analyse dispose de son propre graphique (barres ou courbes) affiché au-dessus du tableau correspondant.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gestion — Source externe JSON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18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97764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Dossier de gestion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JSON exporté depuis un logiciel de gestion (ex : CEGID, EBP...) contenant des indicateurs de gestion complémentaires au FEC.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Sous-sections 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Synthèse annuelle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43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Résultats détaillés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Répartition des charges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570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Financement &amp; emprunts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136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Fonds de roulement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702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Capital &amp; réserves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411480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850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&amp; affichage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0368" y="13716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Import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30368" y="170078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le fichier 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l'onglet 'Dossier'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176272"/>
            <a:ext cx="292608" cy="29260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217627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Validation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30368" y="250545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vérifiée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normalisés automatiquement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980944"/>
            <a:ext cx="292608" cy="29260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29809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Navigation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30368" y="331012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Sous-onglets pour chaque section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+ graphiques synthétiques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785616"/>
            <a:ext cx="292608" cy="29260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0368" y="3785616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30368" y="411480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le PDF si sélectionné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l'écran d'export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CR Divalto — États financiers complets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19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97764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1148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046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Divalto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Actif brut / Amortissements / Actif 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Passif détaillé par rubrique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Comparaison avec exercice N-1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Variation en € et 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5526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Totalisation automatique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fichier JSON Divalto · parseBilanCR.js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114800" cy="397764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41148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8046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de Résultat Divalto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35331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Produits d'exploitation détaillés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Charges d'exploitation détaillées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3042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Résultat d'exploitation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7797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Résultat financier &amp; exceptionnel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25526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Résultat net avec comparaison N-1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fichier JSON Divalto · parseBilanCR.js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 comptables — Balance &amp; Grand Livre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20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170432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128016" cy="1170432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503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Balance générale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4358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comptes avec débit total, crédit total et solde net.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Triée par numéro de compte.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23560" y="914400"/>
            <a:ext cx="31089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Compte  ·  Libellé  ·  Total débit  ·  Total crédit  ·  Solde net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130552"/>
            <a:ext cx="8503920" cy="1170432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30552"/>
            <a:ext cx="128016" cy="1170432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76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Balance auxiliaire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6946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par compte auxiliaire (fournisseurs, clients, adhérents).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par tiers.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23560" y="2240280"/>
            <a:ext cx="31089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Compte aux.  ·  Libellé tiers  ·  Débit  ·  Crédit  ·  Solde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456432"/>
            <a:ext cx="8503920" cy="11704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56432"/>
            <a:ext cx="128016" cy="11704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02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Grand Livre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89534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écritures ligne par ligne, groupées par compte.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solde cumulé running.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23560" y="3566160"/>
            <a:ext cx="31089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Date  ·  Journal  ·  Pièce  ·  Libellé  ·  Débit  ·  Crédit  ·  Solde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— Sélection &amp; Organisation des documents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21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38912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types de documents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Dossier de gestion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51760" y="12801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SIG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Bilan simplifié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16916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Bilan &amp; CR Divalto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Balance générale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Balance auxiliaire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Grand Livre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51760" y="25146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Trésorerie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Structure des charges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292608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Analytique (table)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Analytique (podium)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51760" y="33375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Rapport IA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Comparaison N/N-1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804672"/>
            <a:ext cx="3886200" cy="397764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850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335024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↕️  Réordonnancement par glisser-déposer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20640" y="1901952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Logo personnalisé (upload image)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20640" y="2468880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Orientation portrait / paysage par doc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3035808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Sommaire auto-généré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3602736"/>
            <a:ext cx="3566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Génération 100% côté client (pdfmake)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— Options avancées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22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1325880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Logo personnalisé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Uploadez votre logo (PNG / JPG) — il apparaît sur la page de couverture et en en-tête de chaque document.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325880"/>
          </a:xfrm>
          <a:prstGeom prst="rect">
            <a:avLst/>
          </a:prstGeom>
          <a:solidFill>
            <a:srgbClr val="E8F5E0"/>
          </a:solidFill>
          <a:ln w="12700">
            <a:solidFill>
              <a:srgbClr val="E8F5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8503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Rapport IA intégré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Rapport IA a été généré, il peut être inclus dans l'export PDF (cochez la case correspondante).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2677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N/N-1 — 14 sous-cases configurables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CA &amp; Marge brute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96312" y="274320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Valeur Ajoutée &amp; EBE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274320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Résultats annuels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48856" y="274320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27432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Personnel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291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Services ext.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96312" y="329184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9464" y="3291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Achats &amp; Dotations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72584" y="329184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291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Bilan Actif/Passif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48856" y="329184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3291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Trésorerie (courbe)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3840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CA mensuel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96312" y="384048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3840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Charges (donut)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72584" y="384048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3840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Autonomie &amp; Liquidité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48856" y="3840480"/>
            <a:ext cx="2057400" cy="438912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2008" y="3840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N-2 inclus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389120"/>
            <a:ext cx="2057400" cy="438912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389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Comparaison tréso.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96312" y="4389120"/>
            <a:ext cx="2057400" cy="438912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9464" y="4389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☑️  Comparaison charges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IA — Analyse automatique du FEC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23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977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128016" cy="397764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50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rapport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316736"/>
            <a:ext cx="256032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16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29844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Générer le rapport IA 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l'onglet Rapport 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1993392"/>
            <a:ext cx="256032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93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197510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analyse les indicateurs clés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FEC (SIG, tréso, bilan...)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670048"/>
            <a:ext cx="256032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70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265176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s'affiche en streaming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(mot par mot, temps réel)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346704"/>
            <a:ext cx="256032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46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332841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Éditez manuellement le rapport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nécessaire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023360"/>
            <a:ext cx="256032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23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400507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Incluez-le dans l'export PDF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cochant la case dédiée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4114800" cy="397764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804672"/>
            <a:ext cx="128016" cy="3977640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8503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du rapport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29844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Synthèse de l'exercice en langage naturel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7739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Points forts : CA, marges, trésorerie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24942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Points de vigilance : BFR, ratios critiques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72491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Analyse des charges (structure, évolution)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2004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Commentaire sur l'équilibre du bilan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758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Recommandations personnalisées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4023360"/>
            <a:ext cx="4114800" cy="45720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Claude Sonnet (Anthropic) — nécessite VITE_API_URL configuré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Diaporama — Constructeur de présentations PowerPoint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24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3246120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41148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046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 de slides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Ajoutez autant de slides que nécessaire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Choisissez le layout de chaque slide (LayoutPicker)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Éditez le titre et le contenu en rich 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Réordonnez les slides par glisser-déposer (SlideList)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Prévisualisez le rendu avant l'export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804672"/>
            <a:ext cx="4114800" cy="3246120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04672"/>
            <a:ext cx="4114800" cy="402336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80467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PowerPoint (.pptx)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128016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Export 100% client-side via pptxgenjs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175564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Même charte graphique que Clario 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23113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Rich text préservé (gras, italique, listes)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70662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htmlToPptxRuns.js : HTML → runs formatés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18211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Fichier .pptx téléchargé directement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160520"/>
            <a:ext cx="8503920" cy="621792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605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Ce document que vous lisez a été entièrement généré par le constructeur de diaporama de Clario Vision !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 CUMA (1) — Compte 453* Adhérents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25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Compte 453* — Adhérents travaux &amp; cessions : traitement comptable spécifique CUMA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2011680" cy="2057400"/>
          </a:xfrm>
          <a:prstGeom prst="rect">
            <a:avLst/>
          </a:prstGeom>
          <a:solidFill>
            <a:srgbClr val="F8FAFB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82496"/>
            <a:ext cx="2011680" cy="40233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82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68249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solde NET global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 tous les comptes commençant par 453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(débit − crédit)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487168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96312" y="1682496"/>
            <a:ext cx="2011680" cy="2057400"/>
          </a:xfrm>
          <a:prstGeom prst="rect">
            <a:avLst/>
          </a:prstGeom>
          <a:solidFill>
            <a:srgbClr val="F8FAFB"/>
          </a:solidFill>
          <a:ln w="12700">
            <a:solidFill>
              <a:srgbClr val="31B7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682496"/>
            <a:ext cx="2011680" cy="402336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682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53512" y="168249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solde DÉBITEUR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21488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classé en ACTIF circulant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libellé 'Créances adhérents nettes'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07992" y="2487168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72584" y="1682496"/>
            <a:ext cx="2011680" cy="2057400"/>
          </a:xfrm>
          <a:prstGeom prst="rect">
            <a:avLst/>
          </a:prstGeom>
          <a:solidFill>
            <a:srgbClr val="F8FAFB"/>
          </a:solidFill>
          <a:ln w="12700">
            <a:solidFill>
              <a:srgbClr val="FF820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1682496"/>
            <a:ext cx="2011680" cy="402336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1682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9784" y="168249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solde CRÉDITEUR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024" y="21488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classé en PASSIF dettes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libellé 'Dettes adhérents'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84264" y="2487168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48856" y="1682496"/>
            <a:ext cx="2011680" cy="2057400"/>
          </a:xfrm>
          <a:prstGeom prst="rect">
            <a:avLst/>
          </a:prstGeom>
          <a:solidFill>
            <a:srgbClr val="F8FAFB"/>
          </a:solidFill>
          <a:ln w="12700">
            <a:solidFill>
              <a:srgbClr val="B1DCE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48856" y="1682496"/>
            <a:ext cx="2011680" cy="402336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682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06056" y="168249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disponible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0296" y="21488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détail par compte auxiliaire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une ligne par adhérent avec son solde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319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règle ?  Dans une CUMA, les adhérents peuvent être à la fois créanciers et débiteurs selon les opérations (travaux réalisés vs avances versées). La norme comptable impose de présenter le solde net.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 CUMA (2) — PCG Coopératives Agricoles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26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152144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04672"/>
            <a:ext cx="128016" cy="1152144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595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621* — Intérimaires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896112"/>
            <a:ext cx="2560320" cy="25603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896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personnel ← 621*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24358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PCG CUMA, les intérimaires (621*) sont classés en charges de personnel et non en services extérieurs.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l'EBE intègre le coût réel du travail, y compris la main-d'œuvre temporaire.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8503920" cy="1152144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03120"/>
            <a:ext cx="128016" cy="1152144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579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706*–708* — Travaux agricoles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2560320" cy="256032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← 706/707/708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542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travaux agricoles (prestations de labour, récolte, etc.) sont comptabilisés en 706*, 707* ou 708*, inclus dans le chiffre d'affaires coopératif.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le CA reflète l'ensemble des services rendus aux adhérents.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401568"/>
            <a:ext cx="8503920" cy="1152144"/>
          </a:xfrm>
          <a:prstGeom prst="rect">
            <a:avLst/>
          </a:prstGeom>
          <a:solidFill>
            <a:srgbClr val="E8F5E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401568"/>
            <a:ext cx="128016" cy="1152144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745* — Subventions CUMA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493008"/>
            <a:ext cx="2560320" cy="256032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493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Subventions d'exploitation ← 745*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subventions d'exploitation reçues par les CUMA (745*) sont intégrées dans le calcul du CA global.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 la marge brute et la valeur ajoutée reflètent l'aide publique.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Gestion des accès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27 / 28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128016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d'authentification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463040" cy="420624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LoginPage.jsx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1389888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1298448"/>
            <a:ext cx="1463040" cy="420624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2984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useAuthStore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1389888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1298448"/>
            <a:ext cx="1463040" cy="420624"/>
          </a:xfrm>
          <a:prstGeom prst="rect">
            <a:avLst/>
          </a:prstGeom>
          <a:solidFill>
            <a:srgbClr val="FFF3E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2984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isAdmin 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1389888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298448"/>
            <a:ext cx="1463040" cy="420624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984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SideNav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0" y="1389888"/>
            <a:ext cx="182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1298448"/>
            <a:ext cx="1463040" cy="420624"/>
          </a:xfrm>
          <a:prstGeom prst="rect">
            <a:avLst/>
          </a:prstGeom>
          <a:solidFill>
            <a:srgbClr val="E3F2F5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2984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240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Administration (accès admin uniquement)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715768"/>
            <a:ext cx="8503920" cy="658368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15768"/>
            <a:ext cx="128016" cy="65836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52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0632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comptes · ajout / suppression · attribution du rôle admin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465576"/>
            <a:ext cx="8503920" cy="658368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65576"/>
            <a:ext cx="128016" cy="65836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021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de modules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81304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/ désactiver certains modules pour les utilisateurs non-admin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4215384"/>
            <a:ext cx="8503920" cy="658368"/>
          </a:xfrm>
          <a:prstGeom prst="rect">
            <a:avLst/>
          </a:prstGeom>
          <a:solidFill>
            <a:srgbClr val="E3F2F5"/>
          </a:solidFill>
          <a:ln w="12700">
            <a:solidFill>
              <a:srgbClr val="E3F2F5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215384"/>
            <a:ext cx="128016" cy="658368"/>
          </a:xfrm>
          <a:prstGeom prst="rect">
            <a:avLst/>
          </a:prstGeom>
          <a:solidFill>
            <a:srgbClr val="B1DCE2"/>
          </a:solidFill>
          <a:ln w="12700">
            <a:solidFill>
              <a:srgbClr val="B1DC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globaux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56285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API (Rapport IA) · Textes de bienvenue · Config VITE affichée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31B700"/>
          </a:solidFill>
          <a:ln w="12700">
            <a:solidFill>
              <a:srgbClr val="31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Modules, sources &amp; fonctionnalités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Vision  ·  Guide utilisateur  ·  28 / 28</a:t>
            </a:r>
            <a:endParaRPr lang="en-US" sz="7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4114799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de données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 clé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SIG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SIG, drill-down, graphiques mensuels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journalier, courbe, top 10 mouvements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charges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6 catégories CUMA, détail mensuel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 simplifié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Actif/Passif, 4 ratios, spécificité 453*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Comparaison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 + N-1 + N-2)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analyses annuelles, graphiques, tableaux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Analyseur FEC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0–100, anomalies, balance journal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de 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Dossier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Synthèse, charges, financement,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 &amp; CR Divalto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Divalto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 complet brut/amort./net, CR avec N-1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Livres comptables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(N)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générale, auxiliaire, grand livre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PDF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types, cover dynamique, SVG, pdfmake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 analysé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IA, édition manuelle, export PDF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Diaporama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utilisateur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Builder PowerPoint, layouts, export .pptx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3243</Words>
  <Application>Microsoft Office PowerPoint</Application>
  <PresentationFormat>Affichage à l'écran (16:9)</PresentationFormat>
  <Paragraphs>671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Clario Vision — Documentation Fonctionnelle</dc:title>
  <dc:subject>PptxGenJS Presentation</dc:subject>
  <dc:creator>Clario Vision</dc:creator>
  <cp:lastModifiedBy>Guillaume</cp:lastModifiedBy>
  <cp:revision>2</cp:revision>
  <dcterms:created xsi:type="dcterms:W3CDTF">2026-04-20T08:41:32Z</dcterms:created>
  <dcterms:modified xsi:type="dcterms:W3CDTF">2026-04-20T08:50:39Z</dcterms:modified>
</cp:coreProperties>
</file>